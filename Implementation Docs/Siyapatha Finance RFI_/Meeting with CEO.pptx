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e44ade3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e44ade3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e44ade3d5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e44ade3d5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e44ade3d5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e44ade3d5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e44ade3d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e44ade3d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e44ade3d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e44ade3d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e44ade3d5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e44ade3d5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e44ade3d5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e44ade3d5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59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59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type="title"/>
          </p:nvPr>
        </p:nvSpPr>
        <p:spPr>
          <a:xfrm>
            <a:off x="283850" y="224392"/>
            <a:ext cx="8024400" cy="2296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 to Siyapatha’s Digital Vision</a:t>
            </a:r>
            <a:endParaRPr/>
          </a:p>
        </p:txBody>
      </p:sp>
      <p:sp>
        <p:nvSpPr>
          <p:cNvPr id="410" name="Google Shape;410;p5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11" name="Google Shape;411;p5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12" name="Google Shape;412;p59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space for legal copy. State whether the information is confidential and how it's intended to be used.</a:t>
            </a:r>
            <a:endParaRPr/>
          </a:p>
        </p:txBody>
      </p:sp>
      <p:cxnSp>
        <p:nvCxnSpPr>
          <p:cNvPr id="413" name="Google Shape;413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0"/>
          <p:cNvSpPr txBox="1"/>
          <p:nvPr/>
        </p:nvSpPr>
        <p:spPr>
          <a:xfrm>
            <a:off x="150050" y="277775"/>
            <a:ext cx="8395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Digital Transformation Is Not About Systems. It’s About the Business.</a:t>
            </a:r>
            <a:endParaRPr sz="2900"/>
          </a:p>
        </p:txBody>
      </p:sp>
      <p:sp>
        <p:nvSpPr>
          <p:cNvPr id="419" name="Google Shape;419;p60"/>
          <p:cNvSpPr txBox="1"/>
          <p:nvPr/>
        </p:nvSpPr>
        <p:spPr>
          <a:xfrm>
            <a:off x="324425" y="1385700"/>
            <a:ext cx="8475000" cy="3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Digital transformation is a </a:t>
            </a:r>
            <a:r>
              <a:rPr b="1" lang="en" sz="1100">
                <a:solidFill>
                  <a:schemeClr val="dk1"/>
                </a:solidFill>
              </a:rPr>
              <a:t>strategic </a:t>
            </a:r>
            <a:r>
              <a:rPr b="1" lang="en" sz="1100">
                <a:solidFill>
                  <a:schemeClr val="dk1"/>
                </a:solidFill>
              </a:rPr>
              <a:t>paradigm</a:t>
            </a:r>
            <a:r>
              <a:rPr b="1" lang="en" sz="1100">
                <a:solidFill>
                  <a:schemeClr val="dk1"/>
                </a:solidFill>
              </a:rPr>
              <a:t> shift</a:t>
            </a:r>
            <a:r>
              <a:rPr lang="en" sz="1100">
                <a:solidFill>
                  <a:schemeClr val="dk1"/>
                </a:solidFill>
              </a:rPr>
              <a:t>, not an IT project.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Technology (CRM, automations, analytics, integrations etc) is just an </a:t>
            </a:r>
            <a:r>
              <a:rPr b="1" lang="en" sz="1100">
                <a:solidFill>
                  <a:schemeClr val="dk1"/>
                </a:solidFill>
              </a:rPr>
              <a:t>enabler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Real transformation happens when: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Replacing informal practices with transparent, digitally measurable processes.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Teams and individuals adopt new behaviours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Leaders drive accountability with aid of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entire organisation aligns around Customer centric value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Our commitment is to support </a:t>
            </a:r>
            <a:r>
              <a:rPr b="1" lang="en" sz="1100">
                <a:solidFill>
                  <a:schemeClr val="dk1"/>
                </a:solidFill>
              </a:rPr>
              <a:t>your business transformation</a:t>
            </a:r>
            <a:r>
              <a:rPr lang="en" sz="1100">
                <a:solidFill>
                  <a:schemeClr val="dk1"/>
                </a:solidFill>
              </a:rPr>
              <a:t>, not just deliver software.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/>
        </p:nvSpPr>
        <p:spPr>
          <a:xfrm>
            <a:off x="150050" y="277775"/>
            <a:ext cx="839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CRM </a:t>
            </a:r>
            <a:r>
              <a:rPr b="1" lang="en" sz="2600">
                <a:solidFill>
                  <a:schemeClr val="dk1"/>
                </a:solidFill>
              </a:rPr>
              <a:t>as Part of the </a:t>
            </a:r>
            <a:r>
              <a:rPr b="1" lang="en" sz="2600">
                <a:solidFill>
                  <a:schemeClr val="dk1"/>
                </a:solidFill>
              </a:rPr>
              <a:t>Bigger Digital Picture</a:t>
            </a:r>
            <a:endParaRPr sz="2900"/>
          </a:p>
        </p:txBody>
      </p:sp>
      <p:sp>
        <p:nvSpPr>
          <p:cNvPr id="425" name="Google Shape;425;p61"/>
          <p:cNvSpPr txBox="1"/>
          <p:nvPr/>
        </p:nvSpPr>
        <p:spPr>
          <a:xfrm>
            <a:off x="324425" y="1385700"/>
            <a:ext cx="8475000" cy="3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CRM is </a:t>
            </a:r>
            <a:r>
              <a:rPr lang="en" sz="1100">
                <a:solidFill>
                  <a:schemeClr val="dk1"/>
                </a:solidFill>
              </a:rPr>
              <a:t>central</a:t>
            </a:r>
            <a:r>
              <a:rPr lang="en" sz="1100">
                <a:solidFill>
                  <a:schemeClr val="dk1"/>
                </a:solidFill>
              </a:rPr>
              <a:t> hub of a broader digital transformation.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CRM supports lead management, customer engagement, and service quality.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But real impact comes when it connects with other digital initiatives — call centre, automation, analytics, and customer channels.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CRM is a </a:t>
            </a:r>
            <a:r>
              <a:rPr b="1" lang="en" sz="1100">
                <a:solidFill>
                  <a:schemeClr val="dk1"/>
                </a:solidFill>
              </a:rPr>
              <a:t>foundation</a:t>
            </a:r>
            <a:r>
              <a:rPr lang="en" sz="1100">
                <a:solidFill>
                  <a:schemeClr val="dk1"/>
                </a:solidFill>
              </a:rPr>
              <a:t>, not the full transformation.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CRM projects fail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because of the tool, but because staff still work in the </a:t>
            </a:r>
            <a:r>
              <a:rPr b="1" lang="en">
                <a:solidFill>
                  <a:schemeClr val="dk1"/>
                </a:solidFill>
              </a:rPr>
              <a:t>old way</a:t>
            </a:r>
            <a:r>
              <a:rPr lang="en">
                <a:solidFill>
                  <a:schemeClr val="dk1"/>
                </a:solidFill>
              </a:rPr>
              <a:t> (Excel, WhatsApp, manual notes).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/>
        </p:nvSpPr>
        <p:spPr>
          <a:xfrm>
            <a:off x="833825" y="583325"/>
            <a:ext cx="796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Success</a:t>
            </a:r>
            <a:r>
              <a:rPr b="1" lang="en" sz="2600">
                <a:solidFill>
                  <a:schemeClr val="dk1"/>
                </a:solidFill>
              </a:rPr>
              <a:t> = </a:t>
            </a:r>
            <a:r>
              <a:rPr lang="en" sz="2600">
                <a:solidFill>
                  <a:schemeClr val="dk1"/>
                </a:solidFill>
              </a:rPr>
              <a:t> Tools + SOPs + SLAs + Governance</a:t>
            </a:r>
            <a:endParaRPr sz="2900"/>
          </a:p>
        </p:txBody>
      </p:sp>
      <p:sp>
        <p:nvSpPr>
          <p:cNvPr id="431" name="Google Shape;431;p62"/>
          <p:cNvSpPr txBox="1"/>
          <p:nvPr/>
        </p:nvSpPr>
        <p:spPr>
          <a:xfrm>
            <a:off x="324425" y="1385700"/>
            <a:ext cx="8475000" cy="3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Clear SOPs linked to CRM - </a:t>
            </a:r>
            <a:r>
              <a:rPr lang="en" sz="1500">
                <a:solidFill>
                  <a:schemeClr val="dk1"/>
                </a:solidFill>
              </a:rPr>
              <a:t>Every key activity (lead creation, follow-up, complaint logging, approvals) must have a </a:t>
            </a:r>
            <a:r>
              <a:rPr b="1" lang="en" sz="1500">
                <a:solidFill>
                  <a:schemeClr val="dk1"/>
                </a:solidFill>
              </a:rPr>
              <a:t>defined step in the CRM</a:t>
            </a:r>
            <a:r>
              <a:rPr lang="en" sz="1500">
                <a:solidFill>
                  <a:schemeClr val="dk1"/>
                </a:solidFill>
              </a:rPr>
              <a:t>, not outside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SLAs &amp; responsibilities - </a:t>
            </a:r>
            <a:r>
              <a:rPr lang="en" sz="1500">
                <a:solidFill>
                  <a:schemeClr val="dk1"/>
                </a:solidFill>
              </a:rPr>
              <a:t>Defined </a:t>
            </a:r>
            <a:r>
              <a:rPr b="1" lang="en" sz="1500">
                <a:solidFill>
                  <a:schemeClr val="dk1"/>
                </a:solidFill>
              </a:rPr>
              <a:t>response and update times</a:t>
            </a:r>
            <a:r>
              <a:rPr lang="en" sz="1500">
                <a:solidFill>
                  <a:schemeClr val="dk1"/>
                </a:solidFill>
              </a:rPr>
              <a:t> (e.g. leads updated within 24 hours, complaints status updated daily) with clear owners.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Visible management usage - </a:t>
            </a:r>
            <a:r>
              <a:rPr lang="en" sz="1500">
                <a:solidFill>
                  <a:schemeClr val="dk1"/>
                </a:solidFill>
              </a:rPr>
              <a:t>Branch Managers and Heads use </a:t>
            </a:r>
            <a:r>
              <a:rPr b="1" lang="en" sz="1500">
                <a:solidFill>
                  <a:schemeClr val="dk1"/>
                </a:solidFill>
              </a:rPr>
              <a:t>CRM dashboards</a:t>
            </a:r>
            <a:r>
              <a:rPr lang="en" sz="1500">
                <a:solidFill>
                  <a:schemeClr val="dk1"/>
                </a:solidFill>
              </a:rPr>
              <a:t> in reviews, not parallel spreadsheets – this signals what really matters.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Numerical adoption tracking - </a:t>
            </a:r>
            <a:r>
              <a:rPr lang="en" sz="1500">
                <a:solidFill>
                  <a:schemeClr val="dk1"/>
                </a:solidFill>
              </a:rPr>
              <a:t>Track usage KPIs: % of leads created in CRM, % of complaints logged in CRM, Active users per branch / department, Make these numbers part of </a:t>
            </a:r>
            <a:r>
              <a:rPr b="1" lang="en" sz="1500">
                <a:solidFill>
                  <a:schemeClr val="dk1"/>
                </a:solidFill>
              </a:rPr>
              <a:t>performance conversation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/>
          <p:nvPr>
            <p:ph type="ctrTitle"/>
          </p:nvPr>
        </p:nvSpPr>
        <p:spPr>
          <a:xfrm>
            <a:off x="311700" y="310775"/>
            <a:ext cx="8520600" cy="7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Measure, Review, Improve</a:t>
            </a:r>
            <a:endParaRPr sz="3480"/>
          </a:p>
        </p:txBody>
      </p:sp>
      <p:sp>
        <p:nvSpPr>
          <p:cNvPr id="437" name="Google Shape;437;p63"/>
          <p:cNvSpPr txBox="1"/>
          <p:nvPr>
            <p:ph idx="1" type="subTitle"/>
          </p:nvPr>
        </p:nvSpPr>
        <p:spPr>
          <a:xfrm>
            <a:off x="311700" y="1280250"/>
            <a:ext cx="8520600" cy="3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Phase 1</a:t>
            </a:r>
            <a:r>
              <a:rPr lang="en" sz="1700">
                <a:solidFill>
                  <a:schemeClr val="dk1"/>
                </a:solidFill>
              </a:rPr>
              <a:t> – Go-Live with the Right Tool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Phase 2 </a:t>
            </a:r>
            <a:r>
              <a:rPr lang="en" sz="1700">
                <a:solidFill>
                  <a:schemeClr val="dk1"/>
                </a:solidFill>
              </a:rPr>
              <a:t>– Adoption &amp; Process Alignment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Map and adjust </a:t>
            </a:r>
            <a:r>
              <a:rPr b="1" lang="en" sz="1700">
                <a:solidFill>
                  <a:schemeClr val="dk1"/>
                </a:solidFill>
              </a:rPr>
              <a:t>SOPs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Define </a:t>
            </a:r>
            <a:r>
              <a:rPr b="1" lang="en" sz="1700">
                <a:solidFill>
                  <a:schemeClr val="dk1"/>
                </a:solidFill>
              </a:rPr>
              <a:t>SLAs and ownership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Phase 3 – Measure, Review, Improve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Monthly adoption review with management: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en" sz="1700">
                <a:solidFill>
                  <a:schemeClr val="dk1"/>
                </a:solidFill>
              </a:rPr>
              <a:t>Usage KPIs by branch and role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en" sz="1700">
                <a:solidFill>
                  <a:schemeClr val="dk1"/>
                </a:solidFill>
              </a:rPr>
              <a:t>Data quality checks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en" sz="1700">
                <a:solidFill>
                  <a:schemeClr val="dk1"/>
                </a:solidFill>
              </a:rPr>
              <a:t>Feedback from users and quick improvements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Keep this cycle until we reach </a:t>
            </a:r>
            <a:r>
              <a:rPr b="1" lang="en" sz="1700">
                <a:solidFill>
                  <a:schemeClr val="dk1"/>
                </a:solidFill>
              </a:rPr>
              <a:t>agreed success numbers</a:t>
            </a:r>
            <a:r>
              <a:rPr lang="en" sz="1700">
                <a:solidFill>
                  <a:schemeClr val="dk1"/>
                </a:solidFill>
              </a:rPr>
              <a:t> (e.g. &gt;90% of leads and complaints logged via CRM).</a:t>
            </a:r>
            <a:endParaRPr sz="3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4"/>
          <p:cNvSpPr txBox="1"/>
          <p:nvPr>
            <p:ph type="ctrTitle"/>
          </p:nvPr>
        </p:nvSpPr>
        <p:spPr>
          <a:xfrm>
            <a:off x="311700" y="310775"/>
            <a:ext cx="8520600" cy="71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932"/>
              <a:t>Our Commitment: A Transformation Partnership</a:t>
            </a:r>
            <a:endParaRPr sz="2932"/>
          </a:p>
        </p:txBody>
      </p:sp>
      <p:sp>
        <p:nvSpPr>
          <p:cNvPr id="443" name="Google Shape;443;p64"/>
          <p:cNvSpPr txBox="1"/>
          <p:nvPr>
            <p:ph idx="1" type="subTitle"/>
          </p:nvPr>
        </p:nvSpPr>
        <p:spPr>
          <a:xfrm>
            <a:off x="311700" y="1280250"/>
            <a:ext cx="8520600" cy="3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We are not delivering a product—we are partnering in your digital journey.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Our focus is on real business outcomes, not just system implementation.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We support you end-to-end: design, rollout, adoption, and continuous improvement.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Success is measured by how your teams use the system and the value it creates.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idx="1" type="subTitle"/>
          </p:nvPr>
        </p:nvSpPr>
        <p:spPr>
          <a:xfrm>
            <a:off x="311700" y="254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6"/>
          <p:cNvSpPr txBox="1"/>
          <p:nvPr>
            <p:ph idx="1" type="subTitle"/>
          </p:nvPr>
        </p:nvSpPr>
        <p:spPr>
          <a:xfrm>
            <a:off x="311700" y="1280250"/>
            <a:ext cx="8520600" cy="3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chemeClr val="dk1"/>
                </a:solidFill>
              </a:rPr>
              <a:t>Thank You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Together, we can build meaningful digital impact.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